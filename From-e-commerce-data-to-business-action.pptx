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77" r:id="rId9"/>
    <p:sldId id="262" r:id="rId10"/>
    <p:sldId id="263" r:id="rId11"/>
    <p:sldId id="280" r:id="rId12"/>
    <p:sldId id="264" r:id="rId13"/>
    <p:sldId id="265" r:id="rId14"/>
    <p:sldId id="278" r:id="rId15"/>
    <p:sldId id="266" r:id="rId16"/>
    <p:sldId id="267" r:id="rId17"/>
    <p:sldId id="279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12192000"/>
  <p:embeddedFontLst>
    <p:embeddedFont>
      <p:font typeface="Barlow Condensed Bold" panose="00000806000000000000" pitchFamily="2" charset="0"/>
      <p:regular r:id="rId28"/>
      <p:bold r:id="rId29"/>
    </p:embeddedFont>
    <p:embeddedFont>
      <p:font typeface="IBM Plex Mono Medium" panose="020B0609050203000203" pitchFamily="49" charset="0"/>
      <p:regular r:id="rId30"/>
    </p:embeddedFont>
    <p:embeddedFont>
      <p:font typeface="IBM Plex Mono SemiBold" panose="020B0709050203000203" pitchFamily="49" charset="0"/>
      <p:regular r:id="rId31"/>
      <p:bold r:id="rId32"/>
    </p:embeddedFont>
    <p:embeddedFont>
      <p:font typeface="IBM Plex Sans" panose="020B0503050203000203" pitchFamily="34" charset="0"/>
      <p:regular r:id="rId33"/>
      <p:bold r:id="rId34"/>
    </p:embeddedFont>
    <p:embeddedFont>
      <p:font typeface="IBM Plex Sans SemiBold" panose="020B0703050203000203" pitchFamily="34" charset="0"/>
      <p:regular r:id="rId35"/>
      <p:bold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Anitha\NIIT\Capstone%20Project\capstone-project-retail-tech\Phase%204%20-%20Excel\Analysed_order_items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Anitha\NIIT\Capstone%20Project\capstone-project-retail-tech\Phase%204%20-%20Excel\Analysed_order_items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Anitha\NIIT\Capstone%20Project\capstone-project-retail-tech\Phase%204%20-%20Excel\Analysed_order_items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[Analysed_order_items.xlsx]Revenue By Product Category!PivotTable2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Revenue By Product Category</a:t>
            </a:r>
          </a:p>
        </c:rich>
      </c:tx>
      <c:layout>
        <c:manualLayout>
          <c:xMode val="edge"/>
          <c:yMode val="edge"/>
          <c:x val="0.22479956398892761"/>
          <c:y val="3.428571428571428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chemeClr val="accent6">
                  <a:lumMod val="89000"/>
                </a:schemeClr>
              </a:gs>
              <a:gs pos="23000">
                <a:schemeClr val="accent6">
                  <a:lumMod val="89000"/>
                </a:schemeClr>
              </a:gs>
              <a:gs pos="69000">
                <a:schemeClr val="accent6">
                  <a:lumMod val="75000"/>
                </a:schemeClr>
              </a:gs>
              <a:gs pos="97000">
                <a:schemeClr val="accent6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'Revenue By Product Category'!$B$3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0">
                  <a:schemeClr val="accent6">
                    <a:lumMod val="89000"/>
                  </a:schemeClr>
                </a:gs>
                <a:gs pos="23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'Revenue By Product Category'!$A$4:$A$14</c:f>
              <c:strCache>
                <c:ptCount val="10"/>
                <c:pt idx="0">
                  <c:v>auto</c:v>
                </c:pt>
                <c:pt idx="1">
                  <c:v>bed_bath_table</c:v>
                </c:pt>
                <c:pt idx="2">
                  <c:v>computers_accessories</c:v>
                </c:pt>
                <c:pt idx="3">
                  <c:v>furniture_decor</c:v>
                </c:pt>
                <c:pt idx="4">
                  <c:v>health_beauty</c:v>
                </c:pt>
                <c:pt idx="5">
                  <c:v>housewares</c:v>
                </c:pt>
                <c:pt idx="6">
                  <c:v>sports_leisure</c:v>
                </c:pt>
                <c:pt idx="7">
                  <c:v>telephony</c:v>
                </c:pt>
                <c:pt idx="8">
                  <c:v>toys</c:v>
                </c:pt>
                <c:pt idx="9">
                  <c:v>watches_gifts</c:v>
                </c:pt>
              </c:strCache>
            </c:strRef>
          </c:cat>
          <c:val>
            <c:numRef>
              <c:f>'Revenue By Product Category'!$B$4:$B$14</c:f>
              <c:numCache>
                <c:formatCode>General</c:formatCode>
                <c:ptCount val="10"/>
                <c:pt idx="0">
                  <c:v>47138806.282999739</c:v>
                </c:pt>
                <c:pt idx="1">
                  <c:v>88147377.548999861</c:v>
                </c:pt>
                <c:pt idx="2">
                  <c:v>47706235.657999828</c:v>
                </c:pt>
                <c:pt idx="3">
                  <c:v>88731771.720000044</c:v>
                </c:pt>
                <c:pt idx="4">
                  <c:v>70682804.980999976</c:v>
                </c:pt>
                <c:pt idx="5">
                  <c:v>68575879.674999908</c:v>
                </c:pt>
                <c:pt idx="6">
                  <c:v>84976924.461000055</c:v>
                </c:pt>
                <c:pt idx="7">
                  <c:v>32111806.226999935</c:v>
                </c:pt>
                <c:pt idx="8">
                  <c:v>42091542.505000077</c:v>
                </c:pt>
                <c:pt idx="9">
                  <c:v>38178725.270000063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25-4C02-B1B5-EFCA170F702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94636800"/>
        <c:axId val="1928268192"/>
      </c:barChart>
      <c:catAx>
        <c:axId val="2946368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Product 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8268192"/>
        <c:crosses val="autoZero"/>
        <c:auto val="1"/>
        <c:lblAlgn val="ctr"/>
        <c:lblOffset val="100"/>
        <c:noMultiLvlLbl val="0"/>
      </c:catAx>
      <c:valAx>
        <c:axId val="192826819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Revenue</a:t>
                </a:r>
              </a:p>
            </c:rich>
          </c:tx>
          <c:layout>
            <c:manualLayout>
              <c:xMode val="edge"/>
              <c:yMode val="edge"/>
              <c:x val="0.59987634524407851"/>
              <c:y val="0.9339094650205763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4636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[Analysed_order_items.xlsx]Revenue By Customer Segement!PivotTable11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Revenue By Customer Segment</a:t>
            </a:r>
          </a:p>
        </c:rich>
      </c:tx>
      <c:layout>
        <c:manualLayout>
          <c:xMode val="edge"/>
          <c:yMode val="edge"/>
          <c:x val="0.28673180581586255"/>
          <c:y val="2.22841225626740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'Revenue By Customer Segement'!$B$3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2B3-4542-99DF-64464281523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2B3-4542-99DF-64464281523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2B3-4542-99DF-64464281523C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'Revenue By Customer Segement'!$A$4:$A$7</c:f>
              <c:strCache>
                <c:ptCount val="3"/>
                <c:pt idx="0">
                  <c:v>Loyal</c:v>
                </c:pt>
                <c:pt idx="1">
                  <c:v>New</c:v>
                </c:pt>
                <c:pt idx="2">
                  <c:v>Returning</c:v>
                </c:pt>
              </c:strCache>
            </c:strRef>
          </c:cat>
          <c:val>
            <c:numRef>
              <c:f>'Revenue By Customer Segement'!$B$4:$B$7</c:f>
              <c:numCache>
                <c:formatCode>General</c:formatCode>
                <c:ptCount val="3"/>
                <c:pt idx="0">
                  <c:v>138852137.68100065</c:v>
                </c:pt>
                <c:pt idx="1">
                  <c:v>482770445.8659991</c:v>
                </c:pt>
                <c:pt idx="2">
                  <c:v>332851323.57700211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2B3-4542-99DF-64464281523C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3.0787033968286685E-2"/>
          <c:y val="1.7613710050949517E-2"/>
          <c:w val="0.16710071926319781"/>
          <c:h val="0.2242540612655976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[Analysed_order_items.xlsx]Revenue By Payment Type!PivotTable4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Distribution By Payment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'Revenue By Payment Type'!$B$3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17D-4D62-AD4B-A565361BFF85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17D-4D62-AD4B-A565361BFF85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17D-4D62-AD4B-A565361BFF85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A17D-4D62-AD4B-A565361BFF85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'Revenue By Payment Type'!$A$4:$A$8</c:f>
              <c:strCache>
                <c:ptCount val="4"/>
                <c:pt idx="0">
                  <c:v>Cash on Delivery</c:v>
                </c:pt>
                <c:pt idx="1">
                  <c:v>Credit Card</c:v>
                </c:pt>
                <c:pt idx="2">
                  <c:v>Net Banking</c:v>
                </c:pt>
                <c:pt idx="3">
                  <c:v>UPI</c:v>
                </c:pt>
              </c:strCache>
            </c:strRef>
          </c:cat>
          <c:val>
            <c:numRef>
              <c:f>'Revenue By Payment Type'!$B$4:$B$8</c:f>
              <c:numCache>
                <c:formatCode>General</c:formatCode>
                <c:ptCount val="4"/>
                <c:pt idx="0">
                  <c:v>47750604.632000081</c:v>
                </c:pt>
                <c:pt idx="1">
                  <c:v>236557605.39899793</c:v>
                </c:pt>
                <c:pt idx="2">
                  <c:v>141669216.82100073</c:v>
                </c:pt>
                <c:pt idx="3">
                  <c:v>528496480.27199811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17D-4D62-AD4B-A565361BFF8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76537130905511808"/>
          <c:y val="0.65923735378732207"/>
          <c:w val="0.17421203950869005"/>
          <c:h val="0.25388044173258822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0.67213</cdr:x>
      <cdr:y>0</cdr:y>
    </cdr:from>
    <cdr:to>
      <cdr:x>1</cdr:x>
      <cdr:y>0.38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7E379C1D-F2BF-885E-786A-6E103064C364}"/>
            </a:ext>
          </a:extLst>
        </cdr:cNvPr>
        <cdr:cNvSpPr/>
      </cdr:nvSpPr>
      <cdr:spPr>
        <a:xfrm xmlns:a="http://schemas.openxmlformats.org/drawingml/2006/main">
          <a:off x="4686300" y="0"/>
          <a:ext cx="2286000" cy="1266825"/>
        </a:xfrm>
        <a:prstGeom xmlns:a="http://schemas.openxmlformats.org/drawingml/2006/main" prst="ellipse">
          <a:avLst/>
        </a:prstGeom>
        <a:gradFill xmlns:a="http://schemas.openxmlformats.org/drawingml/2006/main" flip="none" rotWithShape="1">
          <a:gsLst>
            <a:gs pos="0">
              <a:schemeClr val="accent2">
                <a:lumMod val="75000"/>
                <a:shade val="30000"/>
                <a:satMod val="115000"/>
              </a:schemeClr>
            </a:gs>
            <a:gs pos="50000">
              <a:schemeClr val="accent2">
                <a:lumMod val="75000"/>
                <a:shade val="67500"/>
                <a:satMod val="115000"/>
              </a:schemeClr>
            </a:gs>
            <a:gs pos="100000">
              <a:schemeClr val="accent2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sz="2000" dirty="0"/>
            <a:t>Furniture generates the highest revenue, significantly outperforming all other product categories.</a:t>
          </a:r>
          <a:endParaRPr lang="en-IN" sz="2000" kern="12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0.69836</cdr:x>
      <cdr:y>0.17891</cdr:y>
    </cdr:from>
    <cdr:to>
      <cdr:x>0.99369</cdr:x>
      <cdr:y>0.70248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C6EBFF01-AE62-E320-8995-8F921D1122ED}"/>
            </a:ext>
          </a:extLst>
        </cdr:cNvPr>
        <cdr:cNvSpPr/>
      </cdr:nvSpPr>
      <cdr:spPr>
        <a:xfrm xmlns:a="http://schemas.openxmlformats.org/drawingml/2006/main">
          <a:off x="8210262" y="1211941"/>
          <a:ext cx="3472069" cy="3546671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IN" sz="2400" dirty="0"/>
            <a:t>Revenue is highest among new customers, whereas loyal customers generate comparatively lower revenue, suggesting an opportunity to increase spending among existing customers</a:t>
          </a:r>
          <a:endParaRPr lang="en-IN" sz="2400" kern="1200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0.66951</cdr:x>
      <cdr:y>0.12506</cdr:y>
    </cdr:from>
    <cdr:to>
      <cdr:x>1</cdr:x>
      <cdr:y>0.63846</cdr:y>
    </cdr:to>
    <cdr:sp macro="" textlink="">
      <cdr:nvSpPr>
        <cdr:cNvPr id="2" name="Oval 1">
          <a:extLst xmlns:a="http://schemas.openxmlformats.org/drawingml/2006/main">
            <a:ext uri="{FF2B5EF4-FFF2-40B4-BE49-F238E27FC236}">
              <a16:creationId xmlns:a16="http://schemas.microsoft.com/office/drawing/2014/main" id="{23264085-FE83-3EAA-40D8-EFCD4BDA1416}"/>
            </a:ext>
          </a:extLst>
        </cdr:cNvPr>
        <cdr:cNvSpPr/>
      </cdr:nvSpPr>
      <cdr:spPr>
        <a:xfrm xmlns:a="http://schemas.openxmlformats.org/drawingml/2006/main">
          <a:off x="3743324" y="422275"/>
          <a:ext cx="1847851" cy="1733550"/>
        </a:xfrm>
        <a:prstGeom xmlns:a="http://schemas.openxmlformats.org/drawingml/2006/main" prst="ellipse">
          <a:avLst/>
        </a:prstGeom>
        <a:solidFill xmlns:a="http://schemas.openxmlformats.org/drawingml/2006/main">
          <a:srgbClr val="7030A0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sz="2400" dirty="0"/>
            <a:t>UPI dominates payment usage, highlighting a strong customer preference for digital payments.</a:t>
          </a:r>
          <a:endParaRPr lang="en-IN" sz="24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04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9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E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6350">
            <a:solidFill>
              <a:srgbClr val="8A1125"/>
            </a:solidFill>
            <a:prstDash val="solid"/>
          </a:ln>
        </p:spPr>
      </p:sp>
      <p:pic>
        <p:nvPicPr>
          <p:cNvPr id="5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9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70E2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6350">
            <a:solidFill>
              <a:srgbClr val="8A11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195" y="203200"/>
            <a:ext cx="11785305" cy="6451600"/>
          </a:xfrm>
          <a:prstGeom prst="rect">
            <a:avLst/>
          </a:prstGeom>
          <a:noFill/>
          <a:ln w="12700">
            <a:solidFill>
              <a:srgbClr val="F3F2F3"/>
            </a:solidFill>
            <a:prstDash val="solid"/>
          </a:ln>
        </p:spPr>
      </p:sp>
      <p:pic>
        <p:nvPicPr>
          <p:cNvPr id="6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9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AE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217774-DB3B-65DB-CF5C-E6609403753A}"/>
              </a:ext>
            </a:extLst>
          </p:cNvPr>
          <p:cNvSpPr txBox="1"/>
          <p:nvPr/>
        </p:nvSpPr>
        <p:spPr>
          <a:xfrm>
            <a:off x="1194319" y="797510"/>
            <a:ext cx="91160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🛒 E-COMMERCE RETAIL ANALYTICS</a:t>
            </a:r>
          </a:p>
          <a:p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Turning Data into Business Insights &amp; Intelligent Decisions</a:t>
            </a:r>
          </a:p>
          <a:p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A Complete Data Analytics &amp; Machine Learning Project</a:t>
            </a:r>
            <a:endParaRPr lang="en-IN" sz="2400" dirty="0">
              <a:solidFill>
                <a:schemeClr val="bg2">
                  <a:lumMod val="90000"/>
                </a:schemeClr>
              </a:solidFill>
              <a:highlight>
                <a:srgbClr val="800000"/>
              </a:highlight>
            </a:endParaRPr>
          </a:p>
          <a:p>
            <a:br>
              <a:rPr lang="en-IN" sz="2400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</a:br>
            <a:endParaRPr lang="en-IN" sz="2400" dirty="0">
              <a:solidFill>
                <a:schemeClr val="bg2">
                  <a:lumMod val="90000"/>
                </a:schemeClr>
              </a:solidFill>
              <a:highlight>
                <a:srgbClr val="800000"/>
              </a:highlight>
            </a:endParaRPr>
          </a:p>
          <a:p>
            <a:r>
              <a:rPr lang="en-IN" sz="2400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📊 </a:t>
            </a:r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Excel &amp; Power BI</a:t>
            </a:r>
            <a:r>
              <a:rPr lang="en-IN" sz="2400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 | 🐍 </a:t>
            </a:r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Python</a:t>
            </a:r>
            <a:r>
              <a:rPr lang="en-IN" sz="2400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 | 🗄️ </a:t>
            </a:r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SQL</a:t>
            </a:r>
            <a:r>
              <a:rPr lang="en-IN" sz="2400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 | 🤖 </a:t>
            </a:r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Machine Learning</a:t>
            </a:r>
            <a:r>
              <a:rPr lang="en-IN" sz="2400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 | 💬 </a:t>
            </a:r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AI Chatbot</a:t>
            </a:r>
            <a:r>
              <a:rPr lang="en-IN" sz="2400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 | 🌐 </a:t>
            </a:r>
            <a:r>
              <a:rPr lang="en-IN" sz="2400" b="1" dirty="0" err="1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Streamlit</a:t>
            </a:r>
            <a:endParaRPr lang="en-IN" sz="2400" b="1" dirty="0">
              <a:solidFill>
                <a:schemeClr val="bg2">
                  <a:lumMod val="90000"/>
                </a:schemeClr>
              </a:solidFill>
              <a:highlight>
                <a:srgbClr val="800000"/>
              </a:highlight>
            </a:endParaRPr>
          </a:p>
          <a:p>
            <a:endParaRPr lang="en-IN" sz="2400" dirty="0">
              <a:solidFill>
                <a:schemeClr val="bg2">
                  <a:lumMod val="90000"/>
                </a:schemeClr>
              </a:solidFill>
              <a:highlight>
                <a:srgbClr val="800000"/>
              </a:highlight>
            </a:endParaRPr>
          </a:p>
          <a:p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Presented By</a:t>
            </a:r>
          </a:p>
          <a:p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Anitha R</a:t>
            </a:r>
            <a:endParaRPr lang="en-IN" sz="2400" dirty="0">
              <a:solidFill>
                <a:schemeClr val="bg2">
                  <a:lumMod val="90000"/>
                </a:schemeClr>
              </a:solidFill>
              <a:highlight>
                <a:srgbClr val="800000"/>
              </a:highlight>
            </a:endParaRPr>
          </a:p>
          <a:p>
            <a:r>
              <a:rPr lang="en-IN" sz="2400" b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NIIT Capstone Project — 2026</a:t>
            </a:r>
            <a:endParaRPr lang="en-IN" sz="2400" dirty="0">
              <a:solidFill>
                <a:schemeClr val="bg2">
                  <a:lumMod val="90000"/>
                </a:schemeClr>
              </a:solidFill>
              <a:highlight>
                <a:srgbClr val="800000"/>
              </a:highlight>
            </a:endParaRPr>
          </a:p>
          <a:p>
            <a:br>
              <a:rPr lang="en-IN" sz="2400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</a:br>
            <a:endParaRPr lang="en-IN" sz="2400" dirty="0">
              <a:solidFill>
                <a:schemeClr val="bg2">
                  <a:lumMod val="90000"/>
                </a:schemeClr>
              </a:solidFill>
              <a:highlight>
                <a:srgbClr val="800000"/>
              </a:highlight>
            </a:endParaRPr>
          </a:p>
          <a:p>
            <a:r>
              <a:rPr lang="en-IN" sz="2400" i="1" dirty="0">
                <a:solidFill>
                  <a:schemeClr val="bg2">
                    <a:lumMod val="90000"/>
                  </a:schemeClr>
                </a:solidFill>
                <a:highlight>
                  <a:srgbClr val="800000"/>
                </a:highlight>
              </a:rPr>
              <a:t>From Raw Data → Analysis → Insights → Prediction → Business Action</a:t>
            </a:r>
            <a:endParaRPr lang="en-IN" sz="2400" dirty="0">
              <a:solidFill>
                <a:schemeClr val="bg2">
                  <a:lumMod val="90000"/>
                </a:schemeClr>
              </a:solidFill>
              <a:highlight>
                <a:srgbClr val="800000"/>
              </a:highlight>
            </a:endParaRPr>
          </a:p>
          <a:p>
            <a:endParaRPr lang="en-IN" sz="2400" dirty="0">
              <a:solidFill>
                <a:schemeClr val="bg2">
                  <a:lumMod val="90000"/>
                </a:schemeClr>
              </a:solidFill>
              <a:highlight>
                <a:srgbClr val="C0C0C0"/>
              </a:highlight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A95A1A-C81D-147E-AAE1-629F946E9369}"/>
              </a:ext>
            </a:extLst>
          </p:cNvPr>
          <p:cNvCxnSpPr/>
          <p:nvPr/>
        </p:nvCxnSpPr>
        <p:spPr>
          <a:xfrm>
            <a:off x="1259633" y="2276669"/>
            <a:ext cx="87987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20EF28-EBAC-DBA8-F086-FCEC2261EF1B}"/>
              </a:ext>
            </a:extLst>
          </p:cNvPr>
          <p:cNvCxnSpPr>
            <a:cxnSpLocks/>
          </p:cNvCxnSpPr>
          <p:nvPr/>
        </p:nvCxnSpPr>
        <p:spPr>
          <a:xfrm>
            <a:off x="1259633" y="5197151"/>
            <a:ext cx="9050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980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941" y="387350"/>
            <a:ext cx="458280" cy="320080"/>
          </a:xfrm>
          <a:prstGeom prst="rect">
            <a:avLst/>
          </a:prstGeom>
          <a:solidFill>
            <a:srgbClr val="F9D2D8"/>
          </a:solidFill>
          <a:ln/>
        </p:spPr>
      </p:sp>
      <p:sp>
        <p:nvSpPr>
          <p:cNvPr id="3" name="Text 1"/>
          <p:cNvSpPr/>
          <p:nvPr/>
        </p:nvSpPr>
        <p:spPr>
          <a:xfrm>
            <a:off x="483779" y="448270"/>
            <a:ext cx="824190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kern="0" spc="77" dirty="0">
                <a:solidFill>
                  <a:srgbClr val="1D202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21818" y="448270"/>
            <a:ext cx="2433081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kern="0" spc="77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E-COMMERCE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1941" y="2463899"/>
            <a:ext cx="3805242" cy="2435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700" b="1" kern="0" spc="-47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From e-commerce</a:t>
            </a:r>
            <a:endParaRPr lang="en-US" sz="47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700" b="1" kern="0" spc="-47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data to</a:t>
            </a:r>
            <a:endParaRPr lang="en-US" sz="47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700" b="1" kern="0" spc="-47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business action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361941" y="5089624"/>
            <a:ext cx="3805242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Evidence-led signals for growth, experience, and execution.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975" y="6350"/>
            <a:ext cx="7713370" cy="59325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6542" y="6015137"/>
            <a:ext cx="3222445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ANALYTICAL REVIEW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04993" y="6015137"/>
            <a:ext cx="322254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COMMERCIAL SIGNAL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73544" y="6015137"/>
            <a:ext cx="322254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CUSTOMER JOURNEY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242095" y="6015137"/>
            <a:ext cx="2949600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NEXT ACTIONS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65625" y="6350"/>
            <a:ext cx="12700" cy="5932587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13" name="Shape 10"/>
          <p:cNvSpPr/>
          <p:nvPr/>
        </p:nvSpPr>
        <p:spPr>
          <a:xfrm>
            <a:off x="6350" y="5932587"/>
            <a:ext cx="12178995" cy="127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14" name="Shape 11"/>
          <p:cNvSpPr/>
          <p:nvPr/>
        </p:nvSpPr>
        <p:spPr>
          <a:xfrm>
            <a:off x="3120848" y="6015137"/>
            <a:ext cx="12700" cy="760313"/>
          </a:xfrm>
          <a:prstGeom prst="rect">
            <a:avLst/>
          </a:prstGeom>
          <a:solidFill>
            <a:srgbClr val="A0A3A7"/>
          </a:solidFill>
          <a:ln/>
        </p:spPr>
      </p:sp>
      <p:sp>
        <p:nvSpPr>
          <p:cNvPr id="15" name="Shape 12"/>
          <p:cNvSpPr/>
          <p:nvPr/>
        </p:nvSpPr>
        <p:spPr>
          <a:xfrm>
            <a:off x="6089398" y="6015137"/>
            <a:ext cx="12700" cy="760313"/>
          </a:xfrm>
          <a:prstGeom prst="rect">
            <a:avLst/>
          </a:prstGeom>
          <a:solidFill>
            <a:srgbClr val="A0A3A7"/>
          </a:solidFill>
          <a:ln/>
        </p:spPr>
      </p:sp>
      <p:sp>
        <p:nvSpPr>
          <p:cNvPr id="16" name="Shape 13"/>
          <p:cNvSpPr/>
          <p:nvPr/>
        </p:nvSpPr>
        <p:spPr>
          <a:xfrm>
            <a:off x="9057949" y="6015137"/>
            <a:ext cx="12700" cy="760313"/>
          </a:xfrm>
          <a:prstGeom prst="rect">
            <a:avLst/>
          </a:prstGeom>
          <a:solidFill>
            <a:srgbClr val="A0A3A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42" y="903585"/>
            <a:ext cx="4871519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REVIEW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11142" y="1142405"/>
            <a:ext cx="4261934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40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review follows the evidence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11142" y="2369145"/>
            <a:ext cx="4871519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Four moves from question to action.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06463" y="1238548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20760" y="1329928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94716" y="1234678"/>
            <a:ext cx="2608296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Frame the analysis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94716" y="1656159"/>
            <a:ext cx="2608296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review set out to answer.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60201" y="1096070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74498" y="1187450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48454" y="1092200"/>
            <a:ext cx="2608296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Read the commercial signal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348454" y="1798638"/>
            <a:ext cx="2608296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revenue and demand concentrate.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4944" y="4518720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241" y="4610100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3197" y="4514850"/>
            <a:ext cx="2608197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Trace the customer journey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3197" y="5221287"/>
            <a:ext cx="2608197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payment, pricing, and operations reveal.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88583" y="4683026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2880" y="4774406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76836" y="4679156"/>
            <a:ext cx="7479914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Act within the evidence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76836" y="5100638"/>
            <a:ext cx="7714859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to do next—and what remains uncertain.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71519" y="6350"/>
            <a:ext cx="12700" cy="342265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22" name="Shape 20"/>
          <p:cNvSpPr/>
          <p:nvPr/>
        </p:nvSpPr>
        <p:spPr>
          <a:xfrm>
            <a:off x="8525257" y="6350"/>
            <a:ext cx="12700" cy="342265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0" y="3422650"/>
            <a:ext cx="3653639" cy="127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3639" y="3429000"/>
            <a:ext cx="12700" cy="342265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9989" y="3422650"/>
            <a:ext cx="8525356" cy="12700"/>
          </a:xfrm>
          <a:prstGeom prst="rect">
            <a:avLst/>
          </a:prstGeom>
          <a:solidFill>
            <a:srgbClr val="8A112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42" y="2690316"/>
            <a:ext cx="766247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F3F2F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SECTION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11142" y="2929136"/>
            <a:ext cx="7052888" cy="699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400" b="1" kern="0" spc="-54" dirty="0">
                <a:solidFill>
                  <a:srgbClr val="F3F2F3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Frame the analysis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11142" y="3819128"/>
            <a:ext cx="7662472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F3F2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Define the commercial questions before reading the signals.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82921" y="742950"/>
            <a:ext cx="4097632" cy="537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45000" b="1" kern="0" spc="-450" dirty="0">
                <a:solidFill>
                  <a:srgbClr val="F3F2F3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01</a:t>
            </a:r>
            <a:endParaRPr lang="en-US" sz="4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04800"/>
            <a:ext cx="11886903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SCOPE / ANALYTICAL FRAME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43620"/>
            <a:ext cx="11582110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40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project connects commercial performance to customer experience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4792" y="1770360"/>
            <a:ext cx="11886903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review brings sales and behavior into the same decision frame.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4792" y="2214066"/>
            <a:ext cx="3759106" cy="381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" y="2480766"/>
            <a:ext cx="3301917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Measure the business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387" y="2902248"/>
            <a:ext cx="3301917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Sales, customer behavior, product performance, order status, payment methods, reviews, and geography.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387" y="3830141"/>
            <a:ext cx="391150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COMMERCIAL PERFORMANCE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16295" y="2214066"/>
            <a:ext cx="3759106" cy="381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10" name="Text 8"/>
          <p:cNvSpPr/>
          <p:nvPr/>
        </p:nvSpPr>
        <p:spPr>
          <a:xfrm>
            <a:off x="4444889" y="2480766"/>
            <a:ext cx="3301917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Find the signal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44889" y="2902248"/>
            <a:ext cx="3301917" cy="1361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High- and low-performing categories, segment revenue, payment preferences, pricing relationships, review patterns, and regional sales differences.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44889" y="4374654"/>
            <a:ext cx="391150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PATTERN DISCOVERY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27797" y="2214066"/>
            <a:ext cx="3759106" cy="381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14" name="Text 12"/>
          <p:cNvSpPr/>
          <p:nvPr/>
        </p:nvSpPr>
        <p:spPr>
          <a:xfrm>
            <a:off x="8356391" y="2480766"/>
            <a:ext cx="3301917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Test, then translate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56391" y="2902248"/>
            <a:ext cx="3301917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 selected assumptions with statistical analysis, then translate the findings into recommendations.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56391" y="3830141"/>
            <a:ext cx="383530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ACTION STANDARD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4792" y="5744964"/>
            <a:ext cx="11582110" cy="808236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18" name="Text 16"/>
          <p:cNvSpPr/>
          <p:nvPr/>
        </p:nvSpPr>
        <p:spPr>
          <a:xfrm>
            <a:off x="507987" y="5871964"/>
            <a:ext cx="1168370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EVIDENCE STANDARD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7987" y="6206034"/>
            <a:ext cx="11175720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700" b="1" kern="0" spc="-17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Observed patterns become business action only after selected relationships are tested.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36" y="2134394"/>
            <a:ext cx="9235149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SECTION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5136" y="2373213"/>
            <a:ext cx="8625565" cy="157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6600" b="1" kern="0" spc="-66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COMMERCIAL</a:t>
            </a:r>
            <a:endParaRPr lang="en-US" sz="6600" dirty="0"/>
          </a:p>
          <a:p>
            <a:pPr marL="0" indent="0" algn="l">
              <a:lnSpc>
                <a:spcPct val="78000"/>
              </a:lnSpc>
              <a:buNone/>
            </a:pPr>
            <a:r>
              <a:rPr lang="en-US" sz="6600" b="1" kern="0" spc="-66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SIGNAL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65136" y="4139505"/>
            <a:ext cx="9235149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 concentration, portfolio demand, and the next growth lever.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5136" y="6030218"/>
            <a:ext cx="8625565" cy="31651"/>
          </a:xfrm>
          <a:prstGeom prst="roundRect">
            <a:avLst>
              <a:gd name="adj" fmla="val 49998"/>
            </a:avLst>
          </a:prstGeom>
          <a:solidFill>
            <a:srgbClr val="8A1125"/>
          </a:solidFill>
          <a:ln/>
        </p:spPr>
      </p:sp>
      <p:sp>
        <p:nvSpPr>
          <p:cNvPr id="6" name="Text 4"/>
          <p:cNvSpPr/>
          <p:nvPr/>
        </p:nvSpPr>
        <p:spPr>
          <a:xfrm>
            <a:off x="565136" y="6282630"/>
            <a:ext cx="9235149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SECTION 02 / COMMERCIAL PERFORMANCE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9487" y="6350"/>
            <a:ext cx="2435859" cy="684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566" y="1882378"/>
            <a:ext cx="990575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COMMERCIAL SIGNAL / CONCENTRATION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371566" y="2121198"/>
            <a:ext cx="9296167" cy="157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6600" b="1" kern="0" spc="-66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REVENUE IS CONCENTRATED IN A FEW CLEAR GROWTH LEVERS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371566" y="3887490"/>
            <a:ext cx="9296167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Furniture leads category revenue. Selected brands and products contribute disproportionately. Higher-value products matter.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566" y="4965402"/>
            <a:ext cx="990575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OBSERVED PATTERN · CATEGORY · BRAND · PRODUCT · PRICE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0383" y="1676400"/>
            <a:ext cx="63498" cy="3505200"/>
          </a:xfrm>
          <a:prstGeom prst="rect">
            <a:avLst/>
          </a:prstGeom>
          <a:solidFill>
            <a:srgbClr val="8A112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72F55D3-AD5E-DF0E-76A1-75CEC94430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3819570"/>
              </p:ext>
            </p:extLst>
          </p:nvPr>
        </p:nvGraphicFramePr>
        <p:xfrm>
          <a:off x="65315" y="0"/>
          <a:ext cx="11756572" cy="6774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93865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42" y="311150"/>
            <a:ext cx="11880553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PORTFOLIO DECISION / COMPARISON LEDGER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11142" y="549970"/>
            <a:ext cx="11569411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40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Focus investment where the portfolio already proves demand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1142" y="1258590"/>
          <a:ext cx="11569411" cy="2866160"/>
        </p:xfrm>
        <a:graphic>
          <a:graphicData uri="http://schemas.openxmlformats.org/drawingml/2006/table">
            <a:tbl>
              <a:tblPr/>
              <a:tblGrid>
                <a:gridCol w="3470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9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 signal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 in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Before adding spend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High-performing categories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Inventory, visibility, promotions, and recommendations.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Protect proven demand.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7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High-performing brands/products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Greater homepage and campaign exposure.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Scale what already converts.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92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Underperforming categories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 the gap.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Investigate customer preference, pricing, competition, availability, and marketing.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11142" y="5899944"/>
            <a:ext cx="11569411" cy="635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6" name="Shape 3"/>
          <p:cNvSpPr/>
          <p:nvPr/>
        </p:nvSpPr>
        <p:spPr>
          <a:xfrm>
            <a:off x="311142" y="5906294"/>
            <a:ext cx="2313823" cy="640556"/>
          </a:xfrm>
          <a:custGeom>
            <a:avLst/>
            <a:gdLst/>
            <a:ahLst/>
            <a:cxnLst/>
            <a:rect l="l" t="t" r="r" b="b"/>
            <a:pathLst>
              <a:path w="2313823" h="640556">
                <a:moveTo>
                  <a:pt x="9525" y="0"/>
                </a:moveTo>
                <a:lnTo>
                  <a:pt x="2313823" y="0"/>
                </a:lnTo>
                <a:lnTo>
                  <a:pt x="2313823" y="640556"/>
                </a:lnTo>
                <a:lnTo>
                  <a:pt x="9525" y="640556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8A1125"/>
          </a:solidFill>
          <a:ln/>
        </p:spPr>
      </p:sp>
      <p:sp>
        <p:nvSpPr>
          <p:cNvPr id="7" name="Text 4"/>
          <p:cNvSpPr/>
          <p:nvPr/>
        </p:nvSpPr>
        <p:spPr>
          <a:xfrm>
            <a:off x="514337" y="6084094"/>
            <a:ext cx="251701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FFFF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4" name="Shape 5"/>
          <p:cNvSpPr/>
          <p:nvPr/>
        </p:nvSpPr>
        <p:spPr>
          <a:xfrm>
            <a:off x="2624965" y="5906294"/>
            <a:ext cx="9255588" cy="640556"/>
          </a:xfrm>
          <a:custGeom>
            <a:avLst/>
            <a:gdLst/>
            <a:ahLst/>
            <a:cxnLst/>
            <a:rect l="l" t="t" r="r" b="b"/>
            <a:pathLst>
              <a:path w="9255588" h="640556">
                <a:moveTo>
                  <a:pt x="0" y="0"/>
                </a:moveTo>
                <a:lnTo>
                  <a:pt x="9246063" y="0"/>
                </a:lnTo>
                <a:arcTo wR="9525" hR="9525" stAng="16200000" swAng="5400000"/>
                <a:lnTo>
                  <a:pt x="9255588" y="631031"/>
                </a:lnTo>
                <a:arcTo wR="9525" hR="9525" stAng="0" swAng="5400000"/>
                <a:lnTo>
                  <a:pt x="0" y="640556"/>
                </a:lnTo>
                <a:lnTo>
                  <a:pt x="0" y="0"/>
                </a:lnTo>
                <a:close/>
              </a:path>
            </a:pathLst>
          </a:custGeom>
          <a:solidFill>
            <a:srgbClr val="F3F2F3"/>
          </a:solidFill>
          <a:ln/>
        </p:spPr>
      </p:sp>
      <p:sp>
        <p:nvSpPr>
          <p:cNvPr id="9" name="Text 6"/>
          <p:cNvSpPr/>
          <p:nvPr/>
        </p:nvSpPr>
        <p:spPr>
          <a:xfrm>
            <a:off x="2853559" y="6084094"/>
            <a:ext cx="879839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Protect the winners while diagnosing the gaps.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612265" y="5906294"/>
            <a:ext cx="25399" cy="640556"/>
          </a:xfrm>
          <a:prstGeom prst="rect">
            <a:avLst/>
          </a:prstGeom>
          <a:solidFill>
            <a:srgbClr val="8A1125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1968897"/>
            <a:ext cx="11886903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CUSTOMER VALUE / ACQUISITION → RETENTION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2207716"/>
            <a:ext cx="1158211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40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acquisition engine is strong; retention is the next unlock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4792" y="2916337"/>
            <a:ext cx="3632109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700" b="1" kern="0" spc="-17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Acquire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04792" y="3273028"/>
            <a:ext cx="3632109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customers generated higher revenue than loyal customers in the analyzed data.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94090" y="2916337"/>
            <a:ext cx="3403515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700" b="1" kern="0" spc="-17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Convert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94090" y="3273028"/>
            <a:ext cx="3403515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Strengthen acquisition campaigns and first-purchase offers.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4793" y="2916337"/>
            <a:ext cx="3632109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700" b="1" kern="0" spc="-17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Retain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54793" y="3273028"/>
            <a:ext cx="3632109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repeat behavior with personalized offers, loyalty rewards, and cross-selling.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4792" y="4261247"/>
            <a:ext cx="11582110" cy="500856"/>
          </a:xfrm>
          <a:prstGeom prst="roundRect">
            <a:avLst>
              <a:gd name="adj" fmla="val 2282"/>
            </a:avLst>
          </a:prstGeom>
          <a:solidFill>
            <a:srgbClr val="8A1125"/>
          </a:solidFill>
          <a:ln/>
        </p:spPr>
      </p:sp>
      <p:sp>
        <p:nvSpPr>
          <p:cNvPr id="11" name="Text 9"/>
          <p:cNvSpPr/>
          <p:nvPr/>
        </p:nvSpPr>
        <p:spPr>
          <a:xfrm>
            <a:off x="507987" y="4375547"/>
            <a:ext cx="11683708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Growth comes from pairing acquisition strength with repeat behavior.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59146" y="2916337"/>
            <a:ext cx="12700" cy="1173460"/>
          </a:xfrm>
          <a:prstGeom prst="rect">
            <a:avLst/>
          </a:prstGeom>
          <a:solidFill>
            <a:srgbClr val="A0A3A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19849" y="2916337"/>
            <a:ext cx="12700" cy="1173460"/>
          </a:xfrm>
          <a:prstGeom prst="rect">
            <a:avLst/>
          </a:prstGeom>
          <a:solidFill>
            <a:srgbClr val="A0A3A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0C93232-4DA9-4BCA-9EC7-3C3C881A5B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1032209"/>
              </p:ext>
            </p:extLst>
          </p:nvPr>
        </p:nvGraphicFramePr>
        <p:xfrm>
          <a:off x="-2" y="0"/>
          <a:ext cx="12192001" cy="6774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8596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538" y="2219722"/>
            <a:ext cx="781447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F3F2F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SECTION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63538" y="2458541"/>
            <a:ext cx="7204887" cy="1575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6600" b="1" kern="0" spc="-66" dirty="0">
                <a:solidFill>
                  <a:srgbClr val="F3F2F3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CUSTOMER</a:t>
            </a:r>
            <a:endParaRPr lang="en-US" sz="6600" dirty="0"/>
          </a:p>
          <a:p>
            <a:pPr marL="0" indent="0" algn="l">
              <a:lnSpc>
                <a:spcPct val="78000"/>
              </a:lnSpc>
              <a:buNone/>
            </a:pPr>
            <a:r>
              <a:rPr lang="en-US" sz="6600" b="1" kern="0" spc="-66" dirty="0">
                <a:solidFill>
                  <a:srgbClr val="F3F2F3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JOURNEY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463538" y="4274046"/>
            <a:ext cx="1801073" cy="31651"/>
          </a:xfrm>
          <a:prstGeom prst="roundRect">
            <a:avLst>
              <a:gd name="adj" fmla="val 49998"/>
            </a:avLst>
          </a:prstGeom>
          <a:solidFill>
            <a:srgbClr val="F3F2F3"/>
          </a:solidFill>
          <a:ln/>
        </p:spPr>
      </p:sp>
      <p:sp>
        <p:nvSpPr>
          <p:cNvPr id="5" name="Text 3"/>
          <p:cNvSpPr/>
          <p:nvPr/>
        </p:nvSpPr>
        <p:spPr>
          <a:xfrm>
            <a:off x="463538" y="4526459"/>
            <a:ext cx="781447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F3F2F3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PAYMENT · PRICING · EXPERIENCE · EXECUTION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38621" y="1459210"/>
            <a:ext cx="3641932" cy="393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33000" b="1" kern="0" spc="-330" dirty="0">
                <a:solidFill>
                  <a:srgbClr val="F3F2F3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03</a:t>
            </a:r>
            <a:endParaRPr lang="en-US" sz="3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04800"/>
            <a:ext cx="609584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CUSTOMER JOURNEY / PAYMENT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43620"/>
            <a:ext cx="5486263" cy="401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100" b="1" kern="0" spc="-31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UPI is the clearest convenience signal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304792" y="1184870"/>
            <a:ext cx="5486263" cy="31651"/>
          </a:xfrm>
          <a:prstGeom prst="roundRect">
            <a:avLst>
              <a:gd name="adj" fmla="val 49998"/>
            </a:avLst>
          </a:prstGeom>
          <a:solidFill>
            <a:srgbClr val="8A1125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5020965"/>
            <a:ext cx="609584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OBSERVED PATTERN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4792" y="5259784"/>
            <a:ext cx="5486263" cy="7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6600" b="1" kern="0" spc="-66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UPI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304792" y="6238180"/>
            <a:ext cx="609584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The most frequently used payment method.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5848" y="0"/>
            <a:ext cx="6095848" cy="6858000"/>
          </a:xfrm>
          <a:custGeom>
            <a:avLst/>
            <a:gdLst/>
            <a:ahLst/>
            <a:cxnLst/>
            <a:rect l="l" t="t" r="r" b="b"/>
            <a:pathLst>
              <a:path w="6095848" h="6858000">
                <a:moveTo>
                  <a:pt x="0" y="0"/>
                </a:moveTo>
                <a:lnTo>
                  <a:pt x="6070452" y="0"/>
                </a:lnTo>
                <a:arcTo wR="25395" hR="25396" stAng="16200000" swAng="5400000"/>
                <a:lnTo>
                  <a:pt x="6095848" y="6832604"/>
                </a:lnTo>
                <a:arcTo wR="25395" hR="25396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3F2F3"/>
          </a:solidFill>
          <a:ln/>
        </p:spPr>
      </p:sp>
      <p:sp>
        <p:nvSpPr>
          <p:cNvPr id="9" name="Text 7"/>
          <p:cNvSpPr/>
          <p:nvPr/>
        </p:nvSpPr>
        <p:spPr>
          <a:xfrm>
            <a:off x="6400640" y="304800"/>
            <a:ext cx="5791055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1D202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BUSINESS IMPLICATION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640" y="543620"/>
            <a:ext cx="5486263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Optimize checkout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640" y="965101"/>
            <a:ext cx="5791055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Make UPI reliable and low friction.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640" y="5269805"/>
            <a:ext cx="5486263" cy="31651"/>
          </a:xfrm>
          <a:prstGeom prst="roundRect">
            <a:avLst>
              <a:gd name="adj" fmla="val 49998"/>
            </a:avLst>
          </a:prstGeom>
          <a:solidFill>
            <a:srgbClr val="8A112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640" y="5522218"/>
            <a:ext cx="5791055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1D2024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OPERATIONAL WATCHOUT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640" y="5856288"/>
            <a:ext cx="5486263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cancellations and returns by product, category, and region.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89498" y="0"/>
            <a:ext cx="12700" cy="6858000"/>
          </a:xfrm>
          <a:prstGeom prst="rect">
            <a:avLst/>
          </a:prstGeom>
          <a:solidFill>
            <a:srgbClr val="8A1125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D44F551-3313-F288-42C1-14C64F7077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4760950"/>
              </p:ext>
            </p:extLst>
          </p:nvPr>
        </p:nvGraphicFramePr>
        <p:xfrm>
          <a:off x="0" y="74645"/>
          <a:ext cx="12192000" cy="6783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95702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41" y="361950"/>
            <a:ext cx="4515928" cy="603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2661" y="1742182"/>
            <a:ext cx="700903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CUSTOMER JOURNEY / PRICING + REVIEWS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182661" y="1981002"/>
            <a:ext cx="6647093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40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Pricing explains revenue more directly than ratings do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182661" y="3207742"/>
            <a:ext cx="664709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 price and selling price showed an extremely strong positive relationship. Unit price and revenue showed a strong positive relationship. Review score and revenue showed almost no correlation.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82661" y="4195961"/>
            <a:ext cx="3704537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USE PRICE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182661" y="4469705"/>
            <a:ext cx="3704537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a direct revenue signal.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34802" y="4195961"/>
            <a:ext cx="3456893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USE REVIEWS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734802" y="4469705"/>
            <a:ext cx="3094952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monitor satisfaction, not as the sole revenue predictor.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71519" y="6350"/>
            <a:ext cx="12700" cy="68453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11" name="Shape 8"/>
          <p:cNvSpPr/>
          <p:nvPr/>
        </p:nvSpPr>
        <p:spPr>
          <a:xfrm>
            <a:off x="8499858" y="4195961"/>
            <a:ext cx="12700" cy="818257"/>
          </a:xfrm>
          <a:prstGeom prst="rect">
            <a:avLst/>
          </a:prstGeom>
          <a:solidFill>
            <a:srgbClr val="8A1125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42" y="285750"/>
            <a:ext cx="9387942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EXECUTION / REGIONAL + ORDER SIGNALS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11142" y="524570"/>
            <a:ext cx="8778358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40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Regional demand and order status are execution signals</a:t>
            </a:r>
            <a:endParaRPr lang="en-US" sz="4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601521"/>
              </p:ext>
            </p:extLst>
          </p:nvPr>
        </p:nvGraphicFramePr>
        <p:xfrm>
          <a:off x="311142" y="1560810"/>
          <a:ext cx="8226366" cy="5031113"/>
        </p:xfrm>
        <a:graphic>
          <a:graphicData uri="http://schemas.openxmlformats.org/drawingml/2006/table">
            <a:tbl>
              <a:tblPr/>
              <a:tblGrid>
                <a:gridCol w="1371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9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4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0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81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Signal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reveals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Action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3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Geography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Sales and revenue differ across regions.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tune regional campaigns and inventory allocation to local demand.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50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Order status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Delivered, cancelled, shipped, and returned orders reveal where revenue and satisfaction can leak.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Find the operational break.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33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Execution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Delivery performance shapes the customer experience.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D202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Reduce cancellations and improve delivery performance.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ECE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3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43494" y="6350"/>
            <a:ext cx="2841852" cy="6845300"/>
          </a:xfrm>
          <a:custGeom>
            <a:avLst/>
            <a:gdLst/>
            <a:ahLst/>
            <a:cxnLst/>
            <a:rect l="l" t="t" r="r" b="b"/>
            <a:pathLst>
              <a:path w="2841852" h="6845300">
                <a:moveTo>
                  <a:pt x="0" y="0"/>
                </a:moveTo>
                <a:lnTo>
                  <a:pt x="2816456" y="0"/>
                </a:lnTo>
                <a:arcTo wR="25395" hR="25396" stAng="16200000" swAng="5400000"/>
                <a:lnTo>
                  <a:pt x="2841852" y="6819904"/>
                </a:lnTo>
                <a:arcTo wR="25395" hR="25396" stAng="0" swAng="5400000"/>
                <a:lnTo>
                  <a:pt x="0" y="6845300"/>
                </a:lnTo>
                <a:lnTo>
                  <a:pt x="0" y="0"/>
                </a:lnTo>
                <a:close/>
              </a:path>
            </a:pathLst>
          </a:custGeom>
          <a:solidFill>
            <a:srgbClr val="8A1125"/>
          </a:solidFill>
          <a:ln/>
        </p:spPr>
      </p:sp>
      <p:sp>
        <p:nvSpPr>
          <p:cNvPr id="6" name="Text 3"/>
          <p:cNvSpPr/>
          <p:nvPr/>
        </p:nvSpPr>
        <p:spPr>
          <a:xfrm>
            <a:off x="9572088" y="285750"/>
            <a:ext cx="2619607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FFFF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OPERATING VIEW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572088" y="524570"/>
            <a:ext cx="2384663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Demand is local. Leakage is operational.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72088" y="1280220"/>
            <a:ext cx="2384663" cy="31651"/>
          </a:xfrm>
          <a:prstGeom prst="roundRect">
            <a:avLst>
              <a:gd name="adj" fmla="val 49998"/>
            </a:avLst>
          </a:prstGeom>
          <a:solidFill>
            <a:srgbClr val="ECEAEC"/>
          </a:solidFill>
          <a:ln/>
        </p:spPr>
      </p:sp>
      <p:sp>
        <p:nvSpPr>
          <p:cNvPr id="9" name="Text 6"/>
          <p:cNvSpPr/>
          <p:nvPr/>
        </p:nvSpPr>
        <p:spPr>
          <a:xfrm>
            <a:off x="9572088" y="1532632"/>
            <a:ext cx="2384663" cy="325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REGION · STATUS · DELIVERY · RETURNS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337144" y="6350"/>
            <a:ext cx="12700" cy="6845300"/>
          </a:xfrm>
          <a:prstGeom prst="rect">
            <a:avLst/>
          </a:prstGeom>
          <a:solidFill>
            <a:srgbClr val="8A1125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DF4103-774D-8285-A147-57B0D4024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6" y="0"/>
            <a:ext cx="120986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6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42" y="2340570"/>
            <a:ext cx="847445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F3F2F3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SECTION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11142" y="2579390"/>
            <a:ext cx="7864874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5400" b="1" kern="0" spc="-54" dirty="0">
                <a:solidFill>
                  <a:srgbClr val="F3F2F3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Evidence, limits,</a:t>
            </a:r>
            <a:endParaRPr lang="en-US" sz="54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5400" b="1" kern="0" spc="-54" dirty="0">
                <a:solidFill>
                  <a:srgbClr val="F3F2F3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next steps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11142" y="4168874"/>
            <a:ext cx="8474458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F3F2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from pattern to proof, then act within the boundary.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88070" y="1280120"/>
            <a:ext cx="4192483" cy="429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36000" b="1" kern="0" spc="-360" dirty="0">
                <a:solidFill>
                  <a:srgbClr val="F3F2F3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04</a:t>
            </a:r>
            <a:endParaRPr lang="en-US" sz="36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340" y="361950"/>
            <a:ext cx="4658204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METHOD / FOUR MOVES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7340" y="600770"/>
            <a:ext cx="4048619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40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analytical chain moves from pattern to proof to action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87340" y="6018411"/>
            <a:ext cx="4048619" cy="325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EVIDENCE ROUTE · EXPLORATION → VALIDATION → COMPARISON → RECOMMENDATION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50237" y="518220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64534" y="609600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38490" y="514350"/>
            <a:ext cx="5815065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Explore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38490" y="935831"/>
            <a:ext cx="5815065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Category, segment, payment, pricing, review, geography, and order-status patterns.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50237" y="1789013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4534" y="1880394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38490" y="1785144"/>
            <a:ext cx="5815065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Validate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38490" y="2206625"/>
            <a:ext cx="6253205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Selected relationships with a t-test and chi-square test.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50237" y="2787551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4534" y="2878931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38490" y="2783681"/>
            <a:ext cx="5815065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Compare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38490" y="3205163"/>
            <a:ext cx="6253205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performance with the analytical findings.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50237" y="3786088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4534" y="3877469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38490" y="3782219"/>
            <a:ext cx="5815065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Translate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38490" y="4203700"/>
            <a:ext cx="5815065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Validated insights into commercial and operational recommendations.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50237" y="1626394"/>
            <a:ext cx="6403319" cy="127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22" name="Shape 20"/>
          <p:cNvSpPr/>
          <p:nvPr/>
        </p:nvSpPr>
        <p:spPr>
          <a:xfrm>
            <a:off x="5350237" y="2624931"/>
            <a:ext cx="6403319" cy="127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23" name="Shape 21"/>
          <p:cNvSpPr/>
          <p:nvPr/>
        </p:nvSpPr>
        <p:spPr>
          <a:xfrm>
            <a:off x="5350237" y="3623469"/>
            <a:ext cx="6403319" cy="12700"/>
          </a:xfrm>
          <a:prstGeom prst="rect">
            <a:avLst/>
          </a:prstGeom>
          <a:solidFill>
            <a:srgbClr val="8A1125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42" y="311150"/>
            <a:ext cx="11880553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LIMITS / DATA QUALITY + INTERPRETATION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11142" y="549970"/>
            <a:ext cx="11569411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40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The conclusions are useful, but the data sets boundaries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11142" y="1307802"/>
            <a:ext cx="11569411" cy="31651"/>
          </a:xfrm>
          <a:prstGeom prst="roundRect">
            <a:avLst>
              <a:gd name="adj" fmla="val 49998"/>
            </a:avLst>
          </a:prstGeom>
          <a:solidFill>
            <a:srgbClr val="8A1125"/>
          </a:solidFill>
          <a:ln/>
        </p:spPr>
      </p:sp>
      <p:sp>
        <p:nvSpPr>
          <p:cNvPr id="5" name="Shape 3"/>
          <p:cNvSpPr/>
          <p:nvPr/>
        </p:nvSpPr>
        <p:spPr>
          <a:xfrm>
            <a:off x="539736" y="1741884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4034" y="1833265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78788" y="1738015"/>
            <a:ext cx="10473170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8788" y="2159496"/>
            <a:ext cx="11012907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 approval, shipping, delivery, and estimated delivery dates were incomplete.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1142" y="2609552"/>
            <a:ext cx="11569411" cy="1049338"/>
          </a:xfrm>
          <a:prstGeom prst="rect">
            <a:avLst/>
          </a:prstGeom>
          <a:solidFill>
            <a:srgbClr val="F3F2F3"/>
          </a:solidFill>
          <a:ln/>
        </p:spPr>
      </p:sp>
      <p:sp>
        <p:nvSpPr>
          <p:cNvPr id="10" name="Shape 8"/>
          <p:cNvSpPr/>
          <p:nvPr/>
        </p:nvSpPr>
        <p:spPr>
          <a:xfrm>
            <a:off x="539736" y="2791222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034" y="2882602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78788" y="2787352"/>
            <a:ext cx="10473170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Outliers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8788" y="3208834"/>
            <a:ext cx="11012907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Quantity, prices, discounts, shipping cost, weight, and review score required investigation and preprocessing.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736" y="3840559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034" y="3931940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78788" y="3836690"/>
            <a:ext cx="10473170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Unobserved drivers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78788" y="4258171"/>
            <a:ext cx="11012907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Competitor pricing, advertising, campaigns, income, browsing behavior, and availability history were not available.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9736" y="4889897"/>
            <a:ext cx="435857" cy="355600"/>
          </a:xfrm>
          <a:prstGeom prst="roundRect">
            <a:avLst>
              <a:gd name="adj" fmla="val 17142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034" y="4981277"/>
            <a:ext cx="816848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78788" y="4886027"/>
            <a:ext cx="10473170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Interpretation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78788" y="5307509"/>
            <a:ext cx="11012907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Correlation does not imply causation, and statistical results depend on data quality.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1142" y="2603202"/>
            <a:ext cx="11569411" cy="127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23" name="Shape 21"/>
          <p:cNvSpPr/>
          <p:nvPr/>
        </p:nvSpPr>
        <p:spPr>
          <a:xfrm>
            <a:off x="311142" y="3652540"/>
            <a:ext cx="11569411" cy="127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24" name="Shape 22"/>
          <p:cNvSpPr/>
          <p:nvPr/>
        </p:nvSpPr>
        <p:spPr>
          <a:xfrm>
            <a:off x="311142" y="4701877"/>
            <a:ext cx="11569411" cy="12700"/>
          </a:xfrm>
          <a:prstGeom prst="rect">
            <a:avLst/>
          </a:prstGeom>
          <a:solidFill>
            <a:srgbClr val="8A1125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304800"/>
            <a:ext cx="11886903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ROADMAP / DECISION SYSTEM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4792" y="543620"/>
            <a:ext cx="1158211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40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Future scope turns the review into a decision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04792" y="3675360"/>
            <a:ext cx="11582110" cy="28575"/>
          </a:xfrm>
          <a:prstGeom prst="roundRect">
            <a:avLst>
              <a:gd name="adj" fmla="val 39999"/>
            </a:avLst>
          </a:prstGeom>
          <a:solidFill>
            <a:srgbClr val="A0A3A7"/>
          </a:solidFill>
          <a:ln/>
        </p:spPr>
      </p:sp>
      <p:sp>
        <p:nvSpPr>
          <p:cNvPr id="5" name="Shape 3"/>
          <p:cNvSpPr/>
          <p:nvPr/>
        </p:nvSpPr>
        <p:spPr>
          <a:xfrm>
            <a:off x="3122534" y="3065760"/>
            <a:ext cx="28574" cy="609600"/>
          </a:xfrm>
          <a:prstGeom prst="roundRect">
            <a:avLst>
              <a:gd name="adj" fmla="val 40000"/>
            </a:avLst>
          </a:prstGeom>
          <a:solidFill>
            <a:srgbClr val="A32A3E"/>
          </a:solidFill>
          <a:ln/>
        </p:spPr>
      </p:sp>
      <p:sp>
        <p:nvSpPr>
          <p:cNvPr id="6" name="Shape 4"/>
          <p:cNvSpPr/>
          <p:nvPr/>
        </p:nvSpPr>
        <p:spPr>
          <a:xfrm>
            <a:off x="2908227" y="3446760"/>
            <a:ext cx="457189" cy="457200"/>
          </a:xfrm>
          <a:prstGeom prst="roundRect">
            <a:avLst>
              <a:gd name="adj" fmla="val 2500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84425" y="3519934"/>
            <a:ext cx="304792" cy="310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kern="0" spc="-24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7987" y="1691580"/>
            <a:ext cx="525766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NOW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7987" y="1976041"/>
            <a:ext cx="5257668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700" b="1" kern="0" spc="-17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Near-real-time KPI dashboard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7987" y="2318048"/>
            <a:ext cx="5257668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Revenue, orders, delivery, cancellations, returns, average order value, segments, and category revenue.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81560" y="3675360"/>
            <a:ext cx="28574" cy="609600"/>
          </a:xfrm>
          <a:prstGeom prst="roundRect">
            <a:avLst>
              <a:gd name="adj" fmla="val 40000"/>
            </a:avLst>
          </a:prstGeom>
          <a:solidFill>
            <a:srgbClr val="36393D"/>
          </a:solidFill>
          <a:ln/>
        </p:spPr>
      </p:sp>
      <p:sp>
        <p:nvSpPr>
          <p:cNvPr id="12" name="Shape 10"/>
          <p:cNvSpPr/>
          <p:nvPr/>
        </p:nvSpPr>
        <p:spPr>
          <a:xfrm>
            <a:off x="5867253" y="3446760"/>
            <a:ext cx="457189" cy="457200"/>
          </a:xfrm>
          <a:prstGeom prst="roundRect">
            <a:avLst>
              <a:gd name="adj" fmla="val 2500"/>
            </a:avLst>
          </a:prstGeom>
          <a:solidFill>
            <a:srgbClr val="1D2024"/>
          </a:solidFill>
          <a:ln w="12700">
            <a:solidFill>
              <a:srgbClr val="3639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451" y="3519934"/>
            <a:ext cx="304792" cy="310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kern="0" spc="-24" dirty="0">
                <a:solidFill>
                  <a:srgbClr val="FFFFFF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67013" y="4488160"/>
            <a:ext cx="525766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NEXT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67013" y="4772620"/>
            <a:ext cx="5257668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700" b="1" kern="0" spc="-17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Advanced decision support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67013" y="5114627"/>
            <a:ext cx="5257668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 segmentation, sales forecasting, product recommendations, and churn prediction.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40586" y="3065760"/>
            <a:ext cx="28574" cy="609600"/>
          </a:xfrm>
          <a:prstGeom prst="roundRect">
            <a:avLst>
              <a:gd name="adj" fmla="val 40000"/>
            </a:avLst>
          </a:prstGeom>
          <a:solidFill>
            <a:srgbClr val="86898D"/>
          </a:solidFill>
          <a:ln/>
        </p:spPr>
      </p:sp>
      <p:sp>
        <p:nvSpPr>
          <p:cNvPr id="18" name="Shape 16"/>
          <p:cNvSpPr/>
          <p:nvPr/>
        </p:nvSpPr>
        <p:spPr>
          <a:xfrm>
            <a:off x="8826279" y="3446760"/>
            <a:ext cx="457189" cy="457200"/>
          </a:xfrm>
          <a:prstGeom prst="roundRect">
            <a:avLst>
              <a:gd name="adj" fmla="val 2500"/>
            </a:avLst>
          </a:prstGeom>
          <a:solidFill>
            <a:srgbClr val="A0A3A7"/>
          </a:solidFill>
          <a:ln w="12700">
            <a:solidFill>
              <a:srgbClr val="8689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02477" y="3519934"/>
            <a:ext cx="304792" cy="3108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kern="0" spc="-24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26039" y="1691580"/>
            <a:ext cx="5257668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THEN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26039" y="1976041"/>
            <a:ext cx="5257668" cy="220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700" b="1" kern="0" spc="-17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Broader context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26039" y="2318048"/>
            <a:ext cx="5257668" cy="54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Seasonal analysis, competitor analysis, and a more capable AI chatbot.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4792" y="6288980"/>
            <a:ext cx="11886903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FROM REVIEW TO REPEATABLE OPERATING SYSTEM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538" y="361950"/>
            <a:ext cx="11728157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CLOSING / THREE PRIORITIES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63538" y="600770"/>
            <a:ext cx="11264618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000" b="1" kern="0" spc="-40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Three priorities make the insight actionable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63538" y="1360190"/>
            <a:ext cx="2816155" cy="38100"/>
          </a:xfrm>
          <a:prstGeom prst="roundRect">
            <a:avLst>
              <a:gd name="adj" fmla="val 49999"/>
            </a:avLst>
          </a:prstGeom>
          <a:solidFill>
            <a:srgbClr val="8A1125"/>
          </a:solidFill>
          <a:ln/>
        </p:spPr>
      </p:sp>
      <p:sp>
        <p:nvSpPr>
          <p:cNvPr id="5" name="Shape 3"/>
          <p:cNvSpPr/>
          <p:nvPr/>
        </p:nvSpPr>
        <p:spPr>
          <a:xfrm>
            <a:off x="463538" y="1772940"/>
            <a:ext cx="594405" cy="431800"/>
          </a:xfrm>
          <a:prstGeom prst="roundRect">
            <a:avLst>
              <a:gd name="adj" fmla="val 14117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7836" y="1836440"/>
            <a:ext cx="9753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61138" y="1855490"/>
            <a:ext cx="1046701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Concentrate inventory and visibility on high-performing products and categories.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63538" y="2509540"/>
            <a:ext cx="594405" cy="431800"/>
          </a:xfrm>
          <a:prstGeom prst="roundRect">
            <a:avLst>
              <a:gd name="adj" fmla="val 14117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7836" y="2573040"/>
            <a:ext cx="9753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61138" y="2592090"/>
            <a:ext cx="1046701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Pair acquisition strength with personalized retention and cross-selling.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3538" y="3246140"/>
            <a:ext cx="594405" cy="431800"/>
          </a:xfrm>
          <a:prstGeom prst="roundRect">
            <a:avLst>
              <a:gd name="adj" fmla="val 14117"/>
            </a:avLst>
          </a:prstGeom>
          <a:solidFill>
            <a:srgbClr val="8A1125"/>
          </a:solidFill>
          <a:ln w="12700">
            <a:solidFill>
              <a:srgbClr val="A32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836" y="3309640"/>
            <a:ext cx="9753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61138" y="3328690"/>
            <a:ext cx="1046701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200" b="1" kern="0" spc="-22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Use regional, pricing, payment, and operational signals together rather than relying on a single metric.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3538" y="5352554"/>
            <a:ext cx="11728157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OVERALL IMPLICATION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3538" y="5591373"/>
            <a:ext cx="11264618" cy="80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100" b="1" kern="0" spc="-31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Combine product focus, acquisition, retention, regional targeting, optimized pricing, payment convenience, and operational monitoring.</a:t>
            </a:r>
            <a:endParaRPr lang="en-US" sz="3100" dirty="0"/>
          </a:p>
        </p:txBody>
      </p:sp>
      <p:sp>
        <p:nvSpPr>
          <p:cNvPr id="16" name="Shape 14"/>
          <p:cNvSpPr/>
          <p:nvPr/>
        </p:nvSpPr>
        <p:spPr>
          <a:xfrm>
            <a:off x="463538" y="2344440"/>
            <a:ext cx="11264618" cy="2540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17" name="Shape 15"/>
          <p:cNvSpPr/>
          <p:nvPr/>
        </p:nvSpPr>
        <p:spPr>
          <a:xfrm>
            <a:off x="463538" y="3081040"/>
            <a:ext cx="11264618" cy="25400"/>
          </a:xfrm>
          <a:prstGeom prst="rect">
            <a:avLst/>
          </a:prstGeom>
          <a:solidFill>
            <a:srgbClr val="8A1125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0727" y="793750"/>
            <a:ext cx="10959826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63" dirty="0">
                <a:solidFill>
                  <a:srgbClr val="8A1125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SOURCE REGISTER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20727" y="1032570"/>
            <a:ext cx="10350241" cy="7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6600" b="1" kern="0" spc="-66" dirty="0">
                <a:solidFill>
                  <a:srgbClr val="1D2024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SOURCES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20727" y="2010966"/>
            <a:ext cx="10959826" cy="2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1D20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review is grounded in the prepared insights document.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20727" y="5750818"/>
            <a:ext cx="10350241" cy="31651"/>
          </a:xfrm>
          <a:prstGeom prst="roundRect">
            <a:avLst>
              <a:gd name="adj" fmla="val 49998"/>
            </a:avLst>
          </a:prstGeom>
          <a:solidFill>
            <a:srgbClr val="8A1125"/>
          </a:solidFill>
          <a:ln/>
        </p:spPr>
      </p:sp>
      <p:sp>
        <p:nvSpPr>
          <p:cNvPr id="6" name="Text 4"/>
          <p:cNvSpPr/>
          <p:nvPr/>
        </p:nvSpPr>
        <p:spPr>
          <a:xfrm>
            <a:off x="920727" y="6003230"/>
            <a:ext cx="5556111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24442" y="6003230"/>
            <a:ext cx="5556111" cy="16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kern="0" spc="21" dirty="0">
                <a:solidFill>
                  <a:srgbClr val="55595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PHASE 10 — INSIGHTS DOCUMENT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9498" y="6003230"/>
            <a:ext cx="12700" cy="162620"/>
          </a:xfrm>
          <a:prstGeom prst="rect">
            <a:avLst/>
          </a:prstGeom>
          <a:solidFill>
            <a:srgbClr val="8A1125"/>
          </a:solidFill>
          <a:ln/>
        </p:spPr>
      </p:sp>
      <p:sp>
        <p:nvSpPr>
          <p:cNvPr id="9" name="Shape 7"/>
          <p:cNvSpPr/>
          <p:nvPr/>
        </p:nvSpPr>
        <p:spPr>
          <a:xfrm>
            <a:off x="558786" y="1803400"/>
            <a:ext cx="63498" cy="2082800"/>
          </a:xfrm>
          <a:prstGeom prst="rect">
            <a:avLst/>
          </a:prstGeom>
          <a:solidFill>
            <a:srgbClr val="8A1125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creen Recording 6">
            <a:hlinkClick r:id="" action="ppaction://media"/>
            <a:extLst>
              <a:ext uri="{FF2B5EF4-FFF2-40B4-BE49-F238E27FC236}">
                <a16:creationId xmlns:a16="http://schemas.microsoft.com/office/drawing/2014/main" id="{398B4BA5-467A-895A-C90C-75D62FF56D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544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6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30"/>
    </mc:Choice>
    <mc:Fallback xmlns="">
      <p:transition spd="slow" advTm="571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3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7ECC2-C15F-7D40-F3AE-A081CBF0A726}"/>
              </a:ext>
            </a:extLst>
          </p:cNvPr>
          <p:cNvSpPr txBox="1"/>
          <p:nvPr/>
        </p:nvSpPr>
        <p:spPr>
          <a:xfrm>
            <a:off x="3455437" y="1231641"/>
            <a:ext cx="49732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✨ THANK YOU ✨</a:t>
            </a:r>
          </a:p>
          <a:p>
            <a:endParaRPr lang="en-IN" dirty="0"/>
          </a:p>
          <a:p>
            <a:r>
              <a:rPr lang="en-IN" dirty="0"/>
              <a:t>       ━━━━━━━━━━━━━━━━━━━</a:t>
            </a:r>
          </a:p>
          <a:p>
            <a:r>
              <a:rPr lang="en-IN" dirty="0"/>
              <a:t>        Turning Data into</a:t>
            </a:r>
          </a:p>
          <a:p>
            <a:r>
              <a:rPr lang="en-IN" dirty="0"/>
              <a:t>        Meaningful Insights</a:t>
            </a:r>
          </a:p>
          <a:p>
            <a:r>
              <a:rPr lang="en-IN" dirty="0"/>
              <a:t>       ━━━━━━━━━━━━━━━━━━━</a:t>
            </a:r>
          </a:p>
          <a:p>
            <a:endParaRPr lang="en-IN" dirty="0"/>
          </a:p>
          <a:p>
            <a:r>
              <a:rPr lang="en-IN" dirty="0"/>
              <a:t>             💡 📊 🚀</a:t>
            </a:r>
          </a:p>
          <a:p>
            <a:endParaRPr lang="en-IN" dirty="0"/>
          </a:p>
          <a:p>
            <a:r>
              <a:rPr lang="en-IN" dirty="0"/>
              <a:t>       E-Commerce Analytics</a:t>
            </a:r>
          </a:p>
          <a:p>
            <a:r>
              <a:rPr lang="en-IN" dirty="0"/>
              <a:t>          &amp; ML Project</a:t>
            </a:r>
          </a:p>
          <a:p>
            <a:endParaRPr lang="en-IN" dirty="0"/>
          </a:p>
          <a:p>
            <a:r>
              <a:rPr lang="en-IN" dirty="0"/>
              <a:t>        “Data tells the story.</a:t>
            </a:r>
          </a:p>
          <a:p>
            <a:r>
              <a:rPr lang="en-IN" dirty="0"/>
              <a:t>         Insights drive action.”</a:t>
            </a:r>
          </a:p>
        </p:txBody>
      </p:sp>
    </p:spTree>
    <p:extLst>
      <p:ext uri="{BB962C8B-B14F-4D97-AF65-F5344CB8AC3E}">
        <p14:creationId xmlns:p14="http://schemas.microsoft.com/office/powerpoint/2010/main" val="382012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1183</Words>
  <Application>Microsoft Office PowerPoint</Application>
  <PresentationFormat>Widescreen</PresentationFormat>
  <Paragraphs>231</Paragraphs>
  <Slides>25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IBM Plex Mono SemiBold</vt:lpstr>
      <vt:lpstr>IBM Plex Sans SemiBold</vt:lpstr>
      <vt:lpstr>Barlow Condensed Bold</vt:lpstr>
      <vt:lpstr>IBM Plex Sans</vt:lpstr>
      <vt:lpstr>Arial</vt:lpstr>
      <vt:lpstr>IBM Plex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Anitha R</cp:lastModifiedBy>
  <cp:revision>5</cp:revision>
  <dcterms:created xsi:type="dcterms:W3CDTF">2026-09-04T14:21:28Z</dcterms:created>
  <dcterms:modified xsi:type="dcterms:W3CDTF">2026-09-05T08:40:10Z</dcterms:modified>
</cp:coreProperties>
</file>